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665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18DFF"/>
          </a:solidFill>
          <a:ln/>
        </p:spPr>
      </p:sp>
      <p:pic>
        <p:nvPicPr>
          <p:cNvPr id="3" name="Image 0" descr="/home/workdir/artifacts/3e097115-3dc0-4f73-9879-ded44a46905335694294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2377440" cy="2331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COFFEE SALES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8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REPORT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 2024  –  March 2025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0"/>
            <a:ext cx="2011680" cy="54864"/>
          </a:xfrm>
          <a:prstGeom prst="rect">
            <a:avLst/>
          </a:prstGeom>
          <a:solidFill>
            <a:srgbClr val="E66C3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18104"/>
            <a:ext cx="5486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cleaned &amp; validated  |  Power BI Dashboard Insights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Chitransh </a:t>
            </a:r>
            <a:r>
              <a:rPr lang="en-US" sz="1200" dirty="0" err="1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singh</a:t>
            </a:r>
            <a:endParaRPr lang="en-US" sz="1200" dirty="0">
              <a:solidFill>
                <a:srgbClr val="605E5C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3,636 Transactions  •  ₹1,15,432 Revenue  •  8 Products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PERFORMANCE INDICATORS</a:t>
            </a:r>
            <a:endParaRPr lang="en-US" sz="1800" dirty="0"/>
          </a:p>
        </p:txBody>
      </p:sp>
      <p:pic>
        <p:nvPicPr>
          <p:cNvPr id="4" name="Image 0" descr="/home/workdir/artifacts/35cde4b9-bc1b-4da7-b4f9-e436d682675651063136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09728"/>
            <a:ext cx="457200" cy="438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60120"/>
            <a:ext cx="73152" cy="155448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₹1,15,432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period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9601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960120"/>
            <a:ext cx="73152" cy="1554480"/>
          </a:xfrm>
          <a:prstGeom prst="rect">
            <a:avLst/>
          </a:prstGeom>
          <a:solidFill>
            <a:srgbClr val="E66C37"/>
          </a:solidFill>
          <a:ln/>
        </p:spPr>
      </p:sp>
      <p:sp>
        <p:nvSpPr>
          <p:cNvPr id="12" name="Text 9"/>
          <p:cNvSpPr/>
          <p:nvPr/>
        </p:nvSpPr>
        <p:spPr>
          <a:xfrm>
            <a:off x="269748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974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3,636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974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₹31.75 / ticket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09160" y="9601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960120"/>
            <a:ext cx="73152" cy="1554480"/>
          </a:xfrm>
          <a:prstGeom prst="rect">
            <a:avLst/>
          </a:prstGeom>
          <a:solidFill>
            <a:srgbClr val="6B007B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 CARDS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1,317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89204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9601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03720" y="960120"/>
            <a:ext cx="73152" cy="1554480"/>
          </a:xfrm>
          <a:prstGeom prst="rect">
            <a:avLst/>
          </a:prstGeom>
          <a:solidFill>
            <a:srgbClr val="1AAB40"/>
          </a:solidFill>
          <a:ln/>
        </p:spPr>
      </p:sp>
      <p:sp>
        <p:nvSpPr>
          <p:cNvPr id="22" name="Text 19"/>
          <p:cNvSpPr/>
          <p:nvPr/>
        </p:nvSpPr>
        <p:spPr>
          <a:xfrm>
            <a:off x="708660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 SHARE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8660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97.6%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0866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all payments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MIX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65760" y="31546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4FF"/>
          </a:solidFill>
          <a:ln/>
        </p:spPr>
      </p:sp>
      <p:sp>
        <p:nvSpPr>
          <p:cNvPr id="27" name="Shape 24"/>
          <p:cNvSpPr/>
          <p:nvPr/>
        </p:nvSpPr>
        <p:spPr>
          <a:xfrm>
            <a:off x="365760" y="31546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118DFF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  97.6%   •   ₹1,12,246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65760" y="3840480"/>
            <a:ext cx="411480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30" name="Shape 27"/>
          <p:cNvSpPr/>
          <p:nvPr/>
        </p:nvSpPr>
        <p:spPr>
          <a:xfrm>
            <a:off x="365760" y="3840480"/>
            <a:ext cx="320040" cy="411480"/>
          </a:xfrm>
          <a:prstGeom prst="roundRect">
            <a:avLst>
              <a:gd name="adj" fmla="val 17143"/>
            </a:avLst>
          </a:prstGeom>
          <a:solidFill>
            <a:srgbClr val="E66C37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  2.4%   •   ₹3,186  (89 txns)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54880" y="27432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252423"/>
          </a:solidFill>
          <a:ln/>
        </p:spPr>
      </p:sp>
      <p:pic>
        <p:nvPicPr>
          <p:cNvPr id="33" name="Image 1" descr="/home/workdir/artifacts/429cb2e7-68f9-4dd8-b6bd-edcbc8014093769941092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880360"/>
            <a:ext cx="64008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9834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8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HIGHLIGHT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983480" y="3291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months: Oct 2024 (₹13,891) &amp; Feb 2025 (₹13,215)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Tuesday is the strongest weekday.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Weekends offer clear upside potential.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PERFORMANCE</a:t>
            </a:r>
            <a:endParaRPr lang="en-US" sz="1800" dirty="0"/>
          </a:p>
        </p:txBody>
      </p:sp>
      <p:pic>
        <p:nvPicPr>
          <p:cNvPr id="4" name="Image 0" descr="/home/workdir/artifacts/3e097115-3dc0-4f73-9879-ded44a46905335694294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502920" cy="5029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79552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COFFEE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8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REVENUE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8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QTY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8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AVG PRICE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8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SHARE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Latte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₹27,866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782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₹35.63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24.1%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Americano with Milk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₹25,269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824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₹30.67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21.9%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Cappuccino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₹18,034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501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₹36.00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15.6%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Americano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₹15,062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578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₹26.06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13.0%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Hot Chocolate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₹10,172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282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₹36.07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8.8%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Cocoa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₹8,678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243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₹35.71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7.5%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Cortado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₹7,535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292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₹25.80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6.5%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Espresso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₹2,814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₹21.00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2.4%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34340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E8F4FF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Latte + Americano with Milk = 46% of total revenue. Espresso &amp; Cortado are low-ticket candidates for upselling or bundling.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TRENDS</a:t>
            </a:r>
            <a:endParaRPr lang="en-US" sz="1800" dirty="0"/>
          </a:p>
        </p:txBody>
      </p:sp>
      <p:pic>
        <p:nvPicPr>
          <p:cNvPr id="4" name="Image 0" descr="/home/workdir/artifacts/bede5d5d-d5da-4dc4-8273-694b0f62364806667269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91440"/>
            <a:ext cx="50292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REVENUE (₹)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2182178"/>
            <a:ext cx="502920" cy="835342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Mar'24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24128" y="2221161"/>
            <a:ext cx="502920" cy="796359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82496" y="1943661"/>
            <a:ext cx="502920" cy="1073859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11" name="Text 8"/>
          <p:cNvSpPr/>
          <p:nvPr/>
        </p:nvSpPr>
        <p:spPr>
          <a:xfrm>
            <a:off x="1636776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40864" y="2098170"/>
            <a:ext cx="502920" cy="91935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13" name="Text 10"/>
          <p:cNvSpPr/>
          <p:nvPr/>
        </p:nvSpPr>
        <p:spPr>
          <a:xfrm>
            <a:off x="2295144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999232" y="2331720"/>
            <a:ext cx="502920" cy="68580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15" name="Text 12"/>
          <p:cNvSpPr/>
          <p:nvPr/>
        </p:nvSpPr>
        <p:spPr>
          <a:xfrm>
            <a:off x="2953512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0" y="2115351"/>
            <a:ext cx="502920" cy="902169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15968" y="1833941"/>
            <a:ext cx="502920" cy="1183579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19" name="Text 16"/>
          <p:cNvSpPr/>
          <p:nvPr/>
        </p:nvSpPr>
        <p:spPr>
          <a:xfrm>
            <a:off x="4270248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974336" y="1371600"/>
            <a:ext cx="502920" cy="1645920"/>
          </a:xfrm>
          <a:prstGeom prst="rect">
            <a:avLst/>
          </a:prstGeom>
          <a:solidFill>
            <a:srgbClr val="E66C37"/>
          </a:solidFill>
          <a:ln/>
        </p:spPr>
      </p:sp>
      <p:sp>
        <p:nvSpPr>
          <p:cNvPr id="21" name="Text 18"/>
          <p:cNvSpPr/>
          <p:nvPr/>
        </p:nvSpPr>
        <p:spPr>
          <a:xfrm>
            <a:off x="4928616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32704" y="1999588"/>
            <a:ext cx="502920" cy="1017932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23" name="Text 20"/>
          <p:cNvSpPr/>
          <p:nvPr/>
        </p:nvSpPr>
        <p:spPr>
          <a:xfrm>
            <a:off x="5586984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91072" y="2041414"/>
            <a:ext cx="502920" cy="97610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25" name="Text 22"/>
          <p:cNvSpPr/>
          <p:nvPr/>
        </p:nvSpPr>
        <p:spPr>
          <a:xfrm>
            <a:off x="6245352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49440" y="2259314"/>
            <a:ext cx="502920" cy="758206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27" name="Text 24"/>
          <p:cNvSpPr/>
          <p:nvPr/>
        </p:nvSpPr>
        <p:spPr>
          <a:xfrm>
            <a:off x="6903720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Jan'25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607808" y="1451698"/>
            <a:ext cx="502920" cy="1565822"/>
          </a:xfrm>
          <a:prstGeom prst="rect">
            <a:avLst/>
          </a:prstGeom>
          <a:solidFill>
            <a:srgbClr val="E66C37"/>
          </a:solidFill>
          <a:ln/>
        </p:spPr>
      </p:sp>
      <p:sp>
        <p:nvSpPr>
          <p:cNvPr id="29" name="Text 26"/>
          <p:cNvSpPr/>
          <p:nvPr/>
        </p:nvSpPr>
        <p:spPr>
          <a:xfrm>
            <a:off x="7562088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Feb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66176" y="1834297"/>
            <a:ext cx="502920" cy="1183223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31" name="Text 28"/>
          <p:cNvSpPr/>
          <p:nvPr/>
        </p:nvSpPr>
        <p:spPr>
          <a:xfrm>
            <a:off x="8220456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Mar*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657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WEEKDAY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65760" y="38862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/>
        </p:spPr>
      </p:sp>
      <p:sp>
        <p:nvSpPr>
          <p:cNvPr id="34" name="Text 31"/>
          <p:cNvSpPr/>
          <p:nvPr/>
        </p:nvSpPr>
        <p:spPr>
          <a:xfrm>
            <a:off x="365760" y="39776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6576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₹17.9k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65760" y="4526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15.5%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600200" y="38862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E8F4FF"/>
          </a:solidFill>
          <a:ln/>
        </p:spPr>
      </p:sp>
      <p:sp>
        <p:nvSpPr>
          <p:cNvPr id="38" name="Text 35"/>
          <p:cNvSpPr/>
          <p:nvPr/>
        </p:nvSpPr>
        <p:spPr>
          <a:xfrm>
            <a:off x="1600200" y="39776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60020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₹18.6k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600200" y="4526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16.1%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834640" y="38862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/>
        </p:spPr>
      </p:sp>
      <p:sp>
        <p:nvSpPr>
          <p:cNvPr id="42" name="Text 39"/>
          <p:cNvSpPr/>
          <p:nvPr/>
        </p:nvSpPr>
        <p:spPr>
          <a:xfrm>
            <a:off x="2834640" y="39776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Wed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283464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₹16.1k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2834640" y="4526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13.9%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069080" y="38862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/>
        </p:spPr>
      </p:sp>
      <p:sp>
        <p:nvSpPr>
          <p:cNvPr id="46" name="Text 43"/>
          <p:cNvSpPr/>
          <p:nvPr/>
        </p:nvSpPr>
        <p:spPr>
          <a:xfrm>
            <a:off x="4069080" y="39776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06908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₹16.5k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4069080" y="4526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14.3%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303520" y="38862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/>
        </p:spPr>
      </p:sp>
      <p:sp>
        <p:nvSpPr>
          <p:cNvPr id="50" name="Text 47"/>
          <p:cNvSpPr/>
          <p:nvPr/>
        </p:nvSpPr>
        <p:spPr>
          <a:xfrm>
            <a:off x="5303520" y="39776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30352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₹17.3k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5303520" y="4526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14.9%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537960" y="38862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/>
        </p:spPr>
      </p:sp>
      <p:sp>
        <p:nvSpPr>
          <p:cNvPr id="54" name="Text 51"/>
          <p:cNvSpPr/>
          <p:nvPr/>
        </p:nvSpPr>
        <p:spPr>
          <a:xfrm>
            <a:off x="6537960" y="39776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53796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₹15.2k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6537960" y="4526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13.2%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7772400" y="38862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/>
        </p:spPr>
      </p:sp>
      <p:sp>
        <p:nvSpPr>
          <p:cNvPr id="58" name="Text 55"/>
          <p:cNvSpPr/>
          <p:nvPr/>
        </p:nvSpPr>
        <p:spPr>
          <a:xfrm>
            <a:off x="7772400" y="39776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772400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₹13.9k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7772400" y="4526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2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INSIGHTS &amp;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8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69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Weekend Activation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 &amp; Sunday are softest. Launch weekend-only combos or discounts to lift traffic.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8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32120" y="1069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Upsell Low-Ticket Items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Espresso &amp; Cortado have lowest AOV. Bundle with milk options or pastries.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8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Loyalty for Top Cards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1,317 unique card users. Reward frequent visitors with points or free drinks.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8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Core Products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Latte, Americano with Milk &amp; Cappuccino drive majority of revenue — protect stock &amp; service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8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 Pricing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Prices varied over time for the same drink. Communicate seasonal changes clearly.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8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 Process Check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89 cash transactions but higher average ticket — keep reconciliation tight.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0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cleaned coffee_sales.csv  •  Dashboard theme fonts: DIN / Segoe UI  →  Montserrat (closest available)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406</Words>
  <Application>Microsoft Office PowerPoint</Application>
  <PresentationFormat>On-screen Show (16:9)</PresentationFormat>
  <Paragraphs>136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Sales Dashboard Report</dc:title>
  <dc:subject>Sales Analysis Mar 2024 – Mar 2025</dc:subject>
  <dc:creator>Coffee Sales Analytics</dc:creator>
  <cp:lastModifiedBy>Sonu Rajput</cp:lastModifiedBy>
  <cp:revision>3</cp:revision>
  <dcterms:created xsi:type="dcterms:W3CDTF">2026-10-15T16:39:52Z</dcterms:created>
  <dcterms:modified xsi:type="dcterms:W3CDTF">2026-10-16T02:20:13Z</dcterms:modified>
</cp:coreProperties>
</file>